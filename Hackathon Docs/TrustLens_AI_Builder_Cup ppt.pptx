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Google Sans Flex Medium"/>
      <p:regular r:id="rId20"/>
      <p:bold r:id="rId21"/>
    </p:embeddedFont>
    <p:embeddedFont>
      <p:font typeface="Google Sans Flex"/>
      <p:regular r:id="rId22"/>
      <p:bold r:id="rId23"/>
    </p:embeddedFont>
    <p:embeddedFont>
      <p:font typeface="Google Sans Flex SemiBo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0405C3-FEE6-417F-AD40-8B3AB21C1C0A}">
  <a:tblStyle styleId="{370405C3-FEE6-417F-AD40-8B3AB21C1C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FlexMedium-regular.fntdata"/><Relationship Id="rId22" Type="http://schemas.openxmlformats.org/officeDocument/2006/relationships/font" Target="fonts/GoogleSansFlex-regular.fntdata"/><Relationship Id="rId21" Type="http://schemas.openxmlformats.org/officeDocument/2006/relationships/font" Target="fonts/GoogleSansFlexMedium-bold.fntdata"/><Relationship Id="rId24" Type="http://schemas.openxmlformats.org/officeDocument/2006/relationships/font" Target="fonts/GoogleSansFlexSemiBold-regular.fntdata"/><Relationship Id="rId23" Type="http://schemas.openxmlformats.org/officeDocument/2006/relationships/font" Target="fonts/GoogleSansFlex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GoogleSansFlex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1ce1c8afb7da9a8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h1ce1c8afb7da9a8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www.ndtv.com/world?pfrom=home-ndtv_mainnavigation" TargetMode="External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700"/>
            <a:ext cx="87600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b="0" i="0" sz="2100" u="none" cap="none" strike="noStrike">
              <a:solidFill>
                <a:srgbClr val="000000"/>
              </a:solidFill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GB" sz="13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name: </a:t>
            </a:r>
            <a:r>
              <a:rPr i="0" lang="en-GB" sz="1300" u="none" cap="none" strike="noStrike">
                <a:solidFill>
                  <a:srgbClr val="00000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Bin</a:t>
            </a: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ary Minds</a:t>
            </a:r>
            <a:endParaRPr i="0" sz="13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GB" sz="13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leader name:</a:t>
            </a:r>
            <a:r>
              <a:rPr lang="en-GB" sz="13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 </a:t>
            </a:r>
            <a:r>
              <a:rPr lang="en-GB" sz="1300">
                <a:solidFill>
                  <a:schemeClr val="dk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Mohammed Iliyas, Rinkle Agrawal</a:t>
            </a:r>
            <a:endParaRPr b="0" i="0" sz="1300" u="none" cap="none" strike="noStrike">
              <a:solidFill>
                <a:srgbClr val="00000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 Flex"/>
              <a:buAutoNum type="alphaLcPeriod"/>
            </a:pPr>
            <a:r>
              <a:rPr b="0" i="0" lang="en-GB" sz="13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Problem Statement: </a:t>
            </a:r>
            <a:r>
              <a:rPr lang="en-GB" sz="13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release, product managers have to make sure nothing breaks CCPA rules, but nobody can check every guideline by hand. So a dark pattern slips into the live site, and the company ends up with a fine and a bad name. </a:t>
            </a:r>
            <a:endParaRPr b="0" i="0" sz="8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roup 42731997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65350" y="663825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56616" y="1097280"/>
            <a:ext cx="4114800" cy="2377440"/>
          </a:xfrm>
          <a:prstGeom prst="roundRect">
            <a:avLst>
              <a:gd fmla="val 307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672583" y="1097280"/>
            <a:ext cx="4114800" cy="2377440"/>
          </a:xfrm>
          <a:prstGeom prst="roundRect">
            <a:avLst>
              <a:gd fmla="val 307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493776" y="1225295"/>
            <a:ext cx="256032" cy="256032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!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859536" y="12527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The problem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93776" y="1600200"/>
            <a:ext cx="38406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India’s CCPA banned 13 dark patterns in 2023, including drip pricing, basket sneaking and false urgency.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Enforcement is live: </a:t>
            </a:r>
            <a:r>
              <a:rPr b="0" i="0" lang="en-GB" sz="1050" u="sng" cap="none" strike="noStrike">
                <a:solidFill>
                  <a:schemeClr val="hlink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4"/>
              </a:rPr>
              <a:t>Zepto </a:t>
            </a: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fined ₹7 lakh, McAfee ₹1 lakh; in June 2025 all e-commerce platforms were told to self-audit.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Audits are periodic</a:t>
            </a: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, </a:t>
            </a: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manual</a:t>
            </a: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, time consuming</a:t>
            </a: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while checkout and pricing flows </a:t>
            </a: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 </a:t>
            </a: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continuously.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flow can drift out of compliance with the next release, unnoticed until someone else spots it.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4809744" y="1225295"/>
            <a:ext cx="256032" cy="256032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✓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175503" y="125272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The solution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4809744" y="1600200"/>
            <a:ext cx="3840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Tests your live store like a real customer would, before every single release.</a:t>
            </a:r>
            <a:endParaRPr sz="105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Flags each dark pattern with a screenshot and the exact CCPA rule it breaks.</a:t>
            </a:r>
            <a:endParaRPr sz="105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Suggests a fix, re-tests the store, and shows the new compliance score.</a:t>
            </a:r>
            <a:endParaRPr sz="105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Saves every run, so you always have proof of compliance ready to show.</a:t>
            </a:r>
            <a:endParaRPr sz="105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356616" y="3639312"/>
            <a:ext cx="1984248" cy="105156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93776" y="3703320"/>
            <a:ext cx="1709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6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493776" y="4297680"/>
            <a:ext cx="109728" cy="109728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76656" y="4242816"/>
            <a:ext cx="152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</a:t>
            </a: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agents</a:t>
            </a: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, one pipeline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2505456" y="3639312"/>
            <a:ext cx="1984248" cy="105156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642616" y="3703320"/>
            <a:ext cx="17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&lt;=50 Lacs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894109" y="4271679"/>
            <a:ext cx="152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Savings from penalty for violation 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2642616" y="4297680"/>
            <a:ext cx="109728" cy="109728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654296" y="3639312"/>
            <a:ext cx="1984248" cy="105156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791456" y="3703320"/>
            <a:ext cx="171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6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 of </a:t>
            </a:r>
            <a:r>
              <a:rPr b="0" i="0" lang="en-GB" sz="26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13</a:t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4791456" y="4297680"/>
            <a:ext cx="109728" cy="109728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974336" y="4242816"/>
            <a:ext cx="152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CCPA dark patterns tested currently</a:t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6803136" y="3639312"/>
            <a:ext cx="1984248" cy="1051560"/>
          </a:xfrm>
          <a:prstGeom prst="roundRect">
            <a:avLst>
              <a:gd fmla="val 6956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940296" y="3703320"/>
            <a:ext cx="17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 </a:t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6940296" y="4297680"/>
            <a:ext cx="109728" cy="109728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123176" y="4242816"/>
            <a:ext cx="152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Single click pipeline run to test compliance</a:t>
            </a:r>
            <a:endParaRPr/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5013" y="3821349"/>
            <a:ext cx="161700" cy="1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65350" y="663825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b="0" i="0" lang="en-GB" sz="1600" u="none" cap="none" strike="noStrike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b="0" i="0" sz="1600" u="none" cap="none" strike="noStrike">
              <a:solidFill>
                <a:srgbClr val="000000"/>
              </a:solidFill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56616" y="1097280"/>
            <a:ext cx="8430768" cy="566928"/>
          </a:xfrm>
          <a:prstGeom prst="roundRect">
            <a:avLst>
              <a:gd fmla="val 12903" name="adj"/>
            </a:avLst>
          </a:prstGeom>
          <a:solidFill>
            <a:srgbClr val="EA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21208" y="1152144"/>
            <a:ext cx="8101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02A56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Why now: </a:t>
            </a: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CCPA banned 13 dark patterns (2023) and enforcement is live; in June 2025 it directed all e-commerce platforms to self-audit. Penalties go up to ₹10 lakh, and ₹50 lakh for a repeat contravention.</a:t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356616" y="1828800"/>
            <a:ext cx="2697480" cy="2999232"/>
          </a:xfrm>
          <a:prstGeom prst="roundRect">
            <a:avLst>
              <a:gd fmla="val 2711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93776" y="1956816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859536" y="193852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different is it from existing ideas?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21200" y="2395725"/>
            <a:ext cx="23958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Consultants and page scanners audit periodically, one page or screenshot at a time. Dark patterns hide between pages.</a:t>
            </a:r>
            <a:endParaRPr sz="110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137160" lvl="0" marL="1371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Verdicts rest on the official CCPA text and live data (“Only 3 left!” vs 178 in stock).</a:t>
            </a:r>
            <a:endParaRPr sz="110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137160" lvl="0" marL="1371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plain AI chat prompt can give one opinion with no systematic output. TrustLens runs the same journey every release, so results can be compared between versions and audit.</a:t>
            </a:r>
            <a:endParaRPr sz="110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223260" y="1828800"/>
            <a:ext cx="2697480" cy="2999232"/>
          </a:xfrm>
          <a:prstGeom prst="roundRect">
            <a:avLst>
              <a:gd fmla="val 2711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360420" y="1956816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3726180" y="193852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solve the problem?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3360420" y="2395728"/>
            <a:ext cx="24231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TrustLens plays the full customer journey in a real browser and compares checkpoints, identifying dark patterns.</a:t>
            </a:r>
            <a:endParaRPr sz="110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13716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Proves each finding with screenshots and a cited CCPA rule.</a:t>
            </a:r>
            <a:endParaRPr b="0" i="0" sz="1100" u="none" cap="none" strike="noStrike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</a:t>
            </a:r>
            <a:endParaRPr b="0" i="0" sz="1100" u="none" cap="none" strike="noStrike">
              <a:solidFill>
                <a:srgbClr val="202124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13716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Generate a full complaince report covering every pipeline sta</a:t>
            </a: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</a:t>
            </a:r>
            <a:endParaRPr sz="1000">
              <a:solidFill>
                <a:srgbClr val="202124"/>
              </a:solidFill>
            </a:endParaRPr>
          </a:p>
          <a:p>
            <a:pPr indent="-137160" lvl="0" marL="1371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Stores each run as a trail compliance and product teams can audit.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089904" y="1828800"/>
            <a:ext cx="2697480" cy="2999232"/>
          </a:xfrm>
          <a:prstGeom prst="roundRect">
            <a:avLst>
              <a:gd fmla="val 2711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227064" y="1956816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92824" y="193852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proposed solution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227064" y="2395728"/>
            <a:ext cx="2423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Prove, cite, and suggest</a:t>
            </a:r>
            <a:r>
              <a:rPr lang="en-GB" sz="11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 </a:t>
            </a: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fix in one pipeline, not five separate tools. 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verdicts: official CCPA text retrieved at run time, not left to model memory.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Two fixes per finding: a statutory change with code </a:t>
            </a:r>
            <a:r>
              <a:rPr lang="en-GB" sz="11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fix</a:t>
            </a:r>
            <a:r>
              <a:rPr b="0" i="0" lang="en-GB" sz="11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, and a conversion-friendly alternative.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Repeatable by design: the same scripted journey every run, so release-to-release scores are fair and consistent.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65350" y="663825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56616" y="109728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75488" y="1216152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5488" y="1572768"/>
            <a:ext cx="1746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Agent Dashboard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5488" y="1965960"/>
            <a:ext cx="1746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Pick</a:t>
            </a:r>
            <a:r>
              <a:rPr lang="en-GB" sz="10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the version</a:t>
            </a: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, start a run and watch the five stages finish live. </a:t>
            </a:r>
            <a:r>
              <a:rPr lang="en-GB" sz="10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Select respective agent </a:t>
            </a: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for screenshots, findings and reasoning.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2505456" y="109728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624328" y="1216152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2624328" y="1572768"/>
            <a:ext cx="174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Customer journey simulation 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2624328" y="1965960"/>
            <a:ext cx="174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 agent shops your live store like a real customer, from catalogue to cart to checkout to cancellation, capturing a screenshot at every checkpoint.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4654296" y="109728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773168" y="1216152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773168" y="1572768"/>
            <a:ext cx="1746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Specified Clauses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773168" y="1965960"/>
            <a:ext cx="17465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Every ruling quotes the CCPA 2023 definition and legal basis, with a confidence level for human review.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6803136" y="109728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922008" y="1216152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22008" y="1572768"/>
            <a:ext cx="17465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Dual fixes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922008" y="196596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compliance change with code </a:t>
            </a:r>
            <a:r>
              <a:rPr lang="en-GB" sz="10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fix</a:t>
            </a: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, paired with an ethical, conversion-friendly alternative.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356616" y="301752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75488" y="3136391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75488" y="3493008"/>
            <a:ext cx="17465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Run comparison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75488" y="38862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Two runs side by side post fix implementation with before and after </a:t>
            </a:r>
            <a:r>
              <a:rPr lang="en-GB" sz="10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comparison</a:t>
            </a:r>
            <a:r>
              <a:rPr lang="en-GB" sz="10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</a:t>
            </a: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and the score change.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2505456" y="301752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624328" y="3136391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2624328" y="3493008"/>
            <a:ext cx="17465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Compliance trail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2624328" y="3886200"/>
            <a:ext cx="174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 history across releases, and a downloadable PDF report.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4654296" y="301752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773168" y="3136391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7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773168" y="3493008"/>
            <a:ext cx="1746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Jira </a:t>
            </a: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Ticket hand-off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773168" y="3886200"/>
            <a:ext cx="17465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click drafts a Jira issue pre-filled with the clause, evidence and fix.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803136" y="3017520"/>
            <a:ext cx="1984248" cy="1783080"/>
          </a:xfrm>
          <a:prstGeom prst="roundRect">
            <a:avLst>
              <a:gd fmla="val 4102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922008" y="3136391"/>
            <a:ext cx="274320" cy="274320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8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922008" y="3493008"/>
            <a:ext cx="17465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Dark Pattern Guide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922008" y="3886200"/>
            <a:ext cx="174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 13 CCPA patterns with excerpts and enforcement precedents; the 5 tested today are marked.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265350" y="663825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56616" y="1097280"/>
            <a:ext cx="1252728" cy="1051560"/>
          </a:xfrm>
          <a:prstGeom prst="roundRect">
            <a:avLst>
              <a:gd fmla="val 6956" name="adj"/>
            </a:avLst>
          </a:prstGeom>
          <a:solidFill>
            <a:srgbClr val="2021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66344" y="118872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Operator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6344" y="1508760"/>
            <a:ext cx="10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Picks a </a:t>
            </a:r>
            <a:r>
              <a:rPr lang="en-GB" sz="10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version </a:t>
            </a:r>
            <a:r>
              <a:rPr b="0" i="0" lang="en-GB" sz="1000" u="none" cap="none" strike="noStrike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and start a run analysis</a:t>
            </a:r>
            <a:endParaRPr/>
          </a:p>
        </p:txBody>
      </p:sp>
      <p:cxnSp>
        <p:nvCxnSpPr>
          <p:cNvPr id="162" name="Google Shape;162;p17"/>
          <p:cNvCxnSpPr/>
          <p:nvPr/>
        </p:nvCxnSpPr>
        <p:spPr>
          <a:xfrm>
            <a:off x="1627632" y="1600200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5F63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17"/>
          <p:cNvCxnSpPr/>
          <p:nvPr/>
        </p:nvCxnSpPr>
        <p:spPr>
          <a:xfrm>
            <a:off x="982980" y="2167128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DADC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17"/>
          <p:cNvSpPr/>
          <p:nvPr/>
        </p:nvSpPr>
        <p:spPr>
          <a:xfrm>
            <a:off x="356616" y="2377439"/>
            <a:ext cx="1252728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448056" y="2441448"/>
            <a:ext cx="10698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Input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Dashboard on Firebase Hosting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792224" y="1097280"/>
            <a:ext cx="1252728" cy="1051560"/>
          </a:xfrm>
          <a:prstGeom prst="roundRect">
            <a:avLst>
              <a:gd fmla="val 695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1901952" y="1188720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212848" y="117043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Navigator Agent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901952" y="1554480"/>
            <a:ext cx="10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Plays a 10- check- point journey (before vs after</a:t>
            </a:r>
            <a:r>
              <a:rPr lang="en-GB"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adding to cart)</a:t>
            </a:r>
            <a:endParaRPr/>
          </a:p>
        </p:txBody>
      </p:sp>
      <p:cxnSp>
        <p:nvCxnSpPr>
          <p:cNvPr id="170" name="Google Shape;170;p17"/>
          <p:cNvCxnSpPr/>
          <p:nvPr/>
        </p:nvCxnSpPr>
        <p:spPr>
          <a:xfrm>
            <a:off x="3063240" y="1600200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5F63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17"/>
          <p:cNvCxnSpPr/>
          <p:nvPr/>
        </p:nvCxnSpPr>
        <p:spPr>
          <a:xfrm>
            <a:off x="2418588" y="2167128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DADC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17"/>
          <p:cNvSpPr/>
          <p:nvPr/>
        </p:nvSpPr>
        <p:spPr>
          <a:xfrm>
            <a:off x="1792224" y="2377439"/>
            <a:ext cx="1252728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1883664" y="2441448"/>
            <a:ext cx="10698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Screenshot and page text at every checkpoint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227832" y="1097280"/>
            <a:ext cx="1252728" cy="1051560"/>
          </a:xfrm>
          <a:prstGeom prst="roundRect">
            <a:avLst>
              <a:gd fmla="val 695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337560" y="1188720"/>
            <a:ext cx="237744" cy="237744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3648456" y="117043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Pattern Detector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3337560" y="1554480"/>
            <a:ext cx="10332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Compares paired checkpoints</a:t>
            </a:r>
            <a:endParaRPr/>
          </a:p>
        </p:txBody>
      </p:sp>
      <p:cxnSp>
        <p:nvCxnSpPr>
          <p:cNvPr id="178" name="Google Shape;178;p17"/>
          <p:cNvCxnSpPr/>
          <p:nvPr/>
        </p:nvCxnSpPr>
        <p:spPr>
          <a:xfrm>
            <a:off x="4498848" y="1600200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5F63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17"/>
          <p:cNvCxnSpPr/>
          <p:nvPr/>
        </p:nvCxnSpPr>
        <p:spPr>
          <a:xfrm>
            <a:off x="3854196" y="2167128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DADC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17"/>
          <p:cNvSpPr/>
          <p:nvPr/>
        </p:nvSpPr>
        <p:spPr>
          <a:xfrm>
            <a:off x="3227832" y="2377439"/>
            <a:ext cx="1252728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319272" y="2441448"/>
            <a:ext cx="10698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Candidate anomalies, no verdict yet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4663440" y="1097280"/>
            <a:ext cx="1252728" cy="1051560"/>
          </a:xfrm>
          <a:prstGeom prst="roundRect">
            <a:avLst>
              <a:gd fmla="val 695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4773168" y="1188720"/>
            <a:ext cx="237744" cy="237744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084064" y="117043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Reasoning Agent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4773168" y="1554480"/>
            <a:ext cx="10332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Rules on each anomaly</a:t>
            </a:r>
            <a:endParaRPr/>
          </a:p>
        </p:txBody>
      </p:sp>
      <p:cxnSp>
        <p:nvCxnSpPr>
          <p:cNvPr id="186" name="Google Shape;186;p17"/>
          <p:cNvCxnSpPr/>
          <p:nvPr/>
        </p:nvCxnSpPr>
        <p:spPr>
          <a:xfrm>
            <a:off x="5934455" y="1600200"/>
            <a:ext cx="146305" cy="0"/>
          </a:xfrm>
          <a:prstGeom prst="straightConnector1">
            <a:avLst/>
          </a:prstGeom>
          <a:noFill/>
          <a:ln cap="flat" cmpd="sng" w="19050">
            <a:solidFill>
              <a:srgbClr val="5F63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17"/>
          <p:cNvCxnSpPr/>
          <p:nvPr/>
        </p:nvCxnSpPr>
        <p:spPr>
          <a:xfrm>
            <a:off x="5289804" y="2167128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DADC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17"/>
          <p:cNvSpPr/>
          <p:nvPr/>
        </p:nvSpPr>
        <p:spPr>
          <a:xfrm>
            <a:off x="4663440" y="2377439"/>
            <a:ext cx="1252728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4754879" y="2441448"/>
            <a:ext cx="10698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CCPA rule retrieved, cited, with confidence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6099048" y="1097280"/>
            <a:ext cx="1252728" cy="1051560"/>
          </a:xfrm>
          <a:prstGeom prst="roundRect">
            <a:avLst>
              <a:gd fmla="val 695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208776" y="1188720"/>
            <a:ext cx="237744" cy="237744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519672" y="117043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Fix Suggestion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208776" y="1554480"/>
            <a:ext cx="10332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Proposes the fix</a:t>
            </a:r>
            <a:endParaRPr/>
          </a:p>
        </p:txBody>
      </p:sp>
      <p:cxnSp>
        <p:nvCxnSpPr>
          <p:cNvPr id="194" name="Google Shape;194;p17"/>
          <p:cNvCxnSpPr/>
          <p:nvPr/>
        </p:nvCxnSpPr>
        <p:spPr>
          <a:xfrm>
            <a:off x="7370063" y="1600200"/>
            <a:ext cx="146304" cy="0"/>
          </a:xfrm>
          <a:prstGeom prst="straightConnector1">
            <a:avLst/>
          </a:prstGeom>
          <a:noFill/>
          <a:ln cap="flat" cmpd="sng" w="19050">
            <a:solidFill>
              <a:srgbClr val="5F63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17"/>
          <p:cNvCxnSpPr/>
          <p:nvPr/>
        </p:nvCxnSpPr>
        <p:spPr>
          <a:xfrm>
            <a:off x="6725412" y="2167128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DADC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17"/>
          <p:cNvSpPr/>
          <p:nvPr/>
        </p:nvSpPr>
        <p:spPr>
          <a:xfrm>
            <a:off x="6099048" y="2377439"/>
            <a:ext cx="1252728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190488" y="2441448"/>
            <a:ext cx="10698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Statutory fix, code diff and growth option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7534656" y="1097280"/>
            <a:ext cx="1252728" cy="1051560"/>
          </a:xfrm>
          <a:prstGeom prst="roundRect">
            <a:avLst>
              <a:gd fmla="val 695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7644383" y="1188720"/>
            <a:ext cx="237744" cy="23774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7955280" y="1170432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Compliance Trail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7644383" y="1554480"/>
            <a:ext cx="10332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Scores and seals the run</a:t>
            </a:r>
            <a:endParaRPr/>
          </a:p>
        </p:txBody>
      </p:sp>
      <p:cxnSp>
        <p:nvCxnSpPr>
          <p:cNvPr id="202" name="Google Shape;202;p17"/>
          <p:cNvCxnSpPr/>
          <p:nvPr/>
        </p:nvCxnSpPr>
        <p:spPr>
          <a:xfrm>
            <a:off x="8161020" y="2167128"/>
            <a:ext cx="0" cy="182880"/>
          </a:xfrm>
          <a:prstGeom prst="straightConnector1">
            <a:avLst/>
          </a:prstGeom>
          <a:noFill/>
          <a:ln cap="flat" cmpd="sng" w="15875">
            <a:solidFill>
              <a:srgbClr val="DADC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17"/>
          <p:cNvSpPr/>
          <p:nvPr/>
        </p:nvSpPr>
        <p:spPr>
          <a:xfrm>
            <a:off x="7534656" y="2377439"/>
            <a:ext cx="1252728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7626096" y="2441448"/>
            <a:ext cx="10698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Score, </a:t>
            </a:r>
            <a:r>
              <a:rPr lang="en-GB" sz="10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downloadable</a:t>
            </a: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PDF and JSON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356616" y="3401568"/>
            <a:ext cx="8430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After every release: the re-test loop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356616" y="3730752"/>
            <a:ext cx="1828800" cy="749808"/>
          </a:xfrm>
          <a:prstGeom prst="roundRect">
            <a:avLst>
              <a:gd fmla="val 9756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48056" y="3803904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740664" y="3785615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Team applies the suggested fix</a:t>
            </a:r>
            <a:endParaRPr/>
          </a:p>
        </p:txBody>
      </p:sp>
      <p:cxnSp>
        <p:nvCxnSpPr>
          <p:cNvPr id="209" name="Google Shape;209;p17"/>
          <p:cNvCxnSpPr/>
          <p:nvPr/>
        </p:nvCxnSpPr>
        <p:spPr>
          <a:xfrm>
            <a:off x="2212848" y="4105656"/>
            <a:ext cx="316992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17"/>
          <p:cNvSpPr/>
          <p:nvPr/>
        </p:nvSpPr>
        <p:spPr>
          <a:xfrm>
            <a:off x="2557272" y="3730752"/>
            <a:ext cx="1828800" cy="749808"/>
          </a:xfrm>
          <a:prstGeom prst="roundRect">
            <a:avLst>
              <a:gd fmla="val 9756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2648712" y="3803904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941320" y="3785615"/>
            <a:ext cx="137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Same journey re-runs on the updated </a:t>
            </a:r>
            <a:r>
              <a:rPr lang="en-GB" sz="10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version</a:t>
            </a:r>
            <a:endParaRPr/>
          </a:p>
        </p:txBody>
      </p:sp>
      <p:cxnSp>
        <p:nvCxnSpPr>
          <p:cNvPr id="213" name="Google Shape;213;p17"/>
          <p:cNvCxnSpPr/>
          <p:nvPr/>
        </p:nvCxnSpPr>
        <p:spPr>
          <a:xfrm>
            <a:off x="4413504" y="4105656"/>
            <a:ext cx="316992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7"/>
          <p:cNvSpPr/>
          <p:nvPr/>
        </p:nvSpPr>
        <p:spPr>
          <a:xfrm>
            <a:off x="4757928" y="3730752"/>
            <a:ext cx="1828800" cy="749808"/>
          </a:xfrm>
          <a:prstGeom prst="roundRect">
            <a:avLst>
              <a:gd fmla="val 9756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4849367" y="3803904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5141976" y="3785615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Scores and screenshots are compared</a:t>
            </a:r>
            <a:endParaRPr/>
          </a:p>
        </p:txBody>
      </p:sp>
      <p:cxnSp>
        <p:nvCxnSpPr>
          <p:cNvPr id="217" name="Google Shape;217;p17"/>
          <p:cNvCxnSpPr/>
          <p:nvPr/>
        </p:nvCxnSpPr>
        <p:spPr>
          <a:xfrm>
            <a:off x="6614160" y="4105656"/>
            <a:ext cx="316992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17"/>
          <p:cNvSpPr/>
          <p:nvPr/>
        </p:nvSpPr>
        <p:spPr>
          <a:xfrm>
            <a:off x="6958584" y="3730752"/>
            <a:ext cx="1828800" cy="749808"/>
          </a:xfrm>
          <a:prstGeom prst="roundRect">
            <a:avLst>
              <a:gd fmla="val 9756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7050024" y="3803904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7342632" y="3785615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Resolved findings link back to the original finding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356616" y="4572000"/>
            <a:ext cx="8430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Users: compliance and product teams, as a pre-release check on dark </a:t>
            </a: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</a:t>
            </a: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tters.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139050" y="1570950"/>
            <a:ext cx="20922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Solution </a:t>
            </a: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230" name="Google Shape;230;p18" title="TrustLens AI Solution Architectur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0425" y="507350"/>
            <a:ext cx="6877124" cy="457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265350" y="663825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356616" y="1097280"/>
            <a:ext cx="2697480" cy="3200400"/>
          </a:xfrm>
          <a:prstGeom prst="roundRect">
            <a:avLst>
              <a:gd fmla="val 2711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493776" y="1600200"/>
            <a:ext cx="2423100" cy="23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 backend and Navigator job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</a:t>
            </a:r>
            <a:r>
              <a:rPr lang="en-GB"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Agent Platform (Vertex AI)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Vision, reasoning, su</a:t>
            </a: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ggestion </a:t>
            </a: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fixes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Storage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Evidence and CCPA corpus</a:t>
            </a:r>
            <a:r>
              <a:rPr lang="en-GB"/>
              <a:t>, </a:t>
            </a: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</a:t>
            </a: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uns, findings, trail, inventory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Artifact Registry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Storing the docker image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IAM + Secret Manager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Service Account, a</a:t>
            </a: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ccess and secrets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493776" y="1252728"/>
            <a:ext cx="146304" cy="146304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722376" y="11887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Google Cloud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3223260" y="1097280"/>
            <a:ext cx="2697480" cy="3200400"/>
          </a:xfrm>
          <a:prstGeom prst="roundRect">
            <a:avLst>
              <a:gd fmla="val 2711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360420" y="1252728"/>
            <a:ext cx="146304" cy="146304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3589020" y="11887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Application stack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3360420" y="1600200"/>
            <a:ext cx="24231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Operator dashboard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FastAPI (Python)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Backend and orchestration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Playwright + Chromium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Scripted customer journey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PDF + 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Report and certificate</a:t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6089904" y="1097280"/>
            <a:ext cx="2697480" cy="3200400"/>
          </a:xfrm>
          <a:prstGeom prst="roundRect">
            <a:avLst>
              <a:gd fmla="val 2711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6227064" y="1252728"/>
            <a:ext cx="146304" cy="146304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6455664" y="118872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On the roadmap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6227064" y="1600200"/>
            <a:ext cx="2423100" cy="1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Scheduler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Release-pipeline re-tests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BigQuery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Analytics across platforms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Jira, ServiceNow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 ticket sync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exploration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Navigation without a script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356616" y="4434840"/>
            <a:ext cx="8430768" cy="365760"/>
          </a:xfrm>
          <a:prstGeom prst="roundRect">
            <a:avLst>
              <a:gd fmla="val 20000" name="adj"/>
            </a:avLst>
          </a:prstGeom>
          <a:solidFill>
            <a:srgbClr val="EA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493776" y="4434840"/>
            <a:ext cx="8156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102A56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Theme: </a:t>
            </a:r>
            <a:r>
              <a:rPr b="0" i="0" lang="en-GB" sz="105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Retail &amp; Commerce, intelligent customer and business experiences, built on Google Cloud.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265350" y="663825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261" name="Google Shape;261;p20"/>
          <p:cNvGraphicFramePr/>
          <p:nvPr/>
        </p:nvGraphicFramePr>
        <p:xfrm>
          <a:off x="356616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{370405C3-FEE6-417F-AD40-8B3AB21C1C0A}</a:tableStyleId>
              </a:tblPr>
              <a:tblGrid>
                <a:gridCol w="1063150"/>
                <a:gridCol w="2073125"/>
                <a:gridCol w="1764825"/>
                <a:gridCol w="1764825"/>
                <a:gridCol w="1764825"/>
              </a:tblGrid>
              <a:tr h="44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Service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Cost driver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Expected at prototype scale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Per run cost</a:t>
                      </a:r>
                      <a:endParaRPr b="0" sz="1050" u="none" cap="none" strike="noStrike">
                        <a:solidFill>
                          <a:srgbClr val="FFFFFF"/>
                        </a:solidFill>
                        <a:latin typeface="Google Sans Flex SemiBold"/>
                        <a:ea typeface="Google Sans Flex SemiBold"/>
                        <a:cs typeface="Google Sans Flex SemiBold"/>
                        <a:sym typeface="Google Sans Flex SemiBold"/>
                      </a:endParaRPr>
                    </a:p>
                  </a:txBody>
                  <a:tcPr marT="27425" marB="27425" marR="91450" marL="91450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100 runs per month</a:t>
                      </a:r>
                      <a:endParaRPr sz="1050">
                        <a:solidFill>
                          <a:srgbClr val="FFFFFF"/>
                        </a:solidFill>
                        <a:latin typeface="Google Sans Flex SemiBold"/>
                        <a:ea typeface="Google Sans Flex SemiBold"/>
                        <a:cs typeface="Google Sans Flex SemiBold"/>
                        <a:sym typeface="Google Sans Flex SemiBold"/>
                      </a:endParaRPr>
                    </a:p>
                  </a:txBody>
                  <a:tcPr marT="27425" marB="27425" marR="91450" marL="91450" anchor="ctr">
                    <a:solidFill>
                      <a:srgbClr val="202124"/>
                    </a:solidFill>
                  </a:tcPr>
                </a:tc>
              </a:tr>
              <a:tr h="4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Cloud Run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API requests and one Navigator job per run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Low: short jobs, scales to zero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under $0.01, mostly inside free tier</a:t>
                      </a:r>
                      <a:endParaRPr b="0" sz="1050" u="none" cap="none" strike="noStrike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negligible </a:t>
                      </a:r>
                      <a:endParaRPr sz="1050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4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Gemini on Vertex AI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~10 screenshots plus text per run; reasoning and fix calls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Main variable cost; grows with runs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about $0.05 (about ₹4 to 5)</a:t>
                      </a:r>
                      <a:endParaRPr b="0" sz="1050" u="none" cap="none" strike="noStrike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about $5</a:t>
                      </a:r>
                      <a:endParaRPr sz="1050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</a:tr>
              <a:tr h="442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Cloud Storage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Screenshots, PDF reports, CCPA corpus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Low: small files per run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negligible</a:t>
                      </a:r>
                      <a:endParaRPr b="0" sz="1050" u="none" cap="none" strike="noStrike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negligible </a:t>
                      </a:r>
                      <a:endParaRPr sz="1050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FFFFF"/>
                    </a:solidFill>
                  </a:tcPr>
                </a:tc>
              </a:tr>
              <a:tr h="4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IAM + Secret Manager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Service accounts and secrets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050" u="none" cap="none" strike="noStrike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Negligible</a:t>
                      </a:r>
                      <a:endParaRPr/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negligible</a:t>
                      </a:r>
                      <a:endParaRPr b="0" sz="1050" u="none" cap="none" strike="noStrike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negligible </a:t>
                      </a:r>
                      <a:endParaRPr sz="1050">
                        <a:solidFill>
                          <a:srgbClr val="202124"/>
                        </a:solidFill>
                        <a:latin typeface="Google Sans Flex"/>
                        <a:ea typeface="Google Sans Flex"/>
                        <a:cs typeface="Google Sans Flex"/>
                        <a:sym typeface="Google Sans Flex"/>
                      </a:endParaRPr>
                    </a:p>
                  </a:txBody>
                  <a:tcPr marT="27425" marB="27425" marR="91450" marL="91450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20"/>
          <p:cNvSpPr/>
          <p:nvPr/>
        </p:nvSpPr>
        <p:spPr>
          <a:xfrm>
            <a:off x="1694303" y="3747112"/>
            <a:ext cx="2697600" cy="1051500"/>
          </a:xfrm>
          <a:prstGeom prst="roundRect">
            <a:avLst>
              <a:gd fmla="val 695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1831463" y="3856840"/>
            <a:ext cx="128100" cy="1281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2041775" y="3820264"/>
            <a:ext cx="224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No fixed cost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1831464" y="4112873"/>
            <a:ext cx="24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licences or servers to run: every service above is serverless and pay-per-use.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4806691" y="3782537"/>
            <a:ext cx="2697600" cy="1051500"/>
          </a:xfrm>
          <a:prstGeom prst="roundRect">
            <a:avLst>
              <a:gd fmla="val 6956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943852" y="3892265"/>
            <a:ext cx="128100" cy="12810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5154163" y="3855689"/>
            <a:ext cx="2240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Indicative only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4943852" y="4148298"/>
            <a:ext cx="24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Validate with the Google Cloud pricing calculator once run volume and storefront count are fixed.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252900" y="507350"/>
            <a:ext cx="894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278" name="Google Shape;27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975" y="891350"/>
            <a:ext cx="8668851" cy="420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65350" y="663825"/>
            <a:ext cx="894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265176" y="1280160"/>
            <a:ext cx="2050500" cy="1188600"/>
          </a:xfrm>
          <a:prstGeom prst="roundRect">
            <a:avLst>
              <a:gd fmla="val 600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402335" y="1389888"/>
            <a:ext cx="17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none" cap="none" strike="noStrike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40s – 2 min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402335" y="1883664"/>
            <a:ext cx="100500" cy="100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566928" y="1828800"/>
            <a:ext cx="16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End-to-end run time: about 40 s on our demo, up to about 2 min for larger sites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2452878" y="1280160"/>
            <a:ext cx="2050500" cy="1188600"/>
          </a:xfrm>
          <a:prstGeom prst="roundRect">
            <a:avLst>
              <a:gd fmla="val 600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2590038" y="1389888"/>
            <a:ext cx="17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none" cap="none" strike="noStrike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92–95%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2590038" y="1883664"/>
            <a:ext cx="100500" cy="10050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2754630" y="1828800"/>
            <a:ext cx="16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Pattern Detector confidence when flagging candidate dark patterns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4699030" y="3660835"/>
            <a:ext cx="2050500" cy="1188600"/>
          </a:xfrm>
          <a:prstGeom prst="roundRect">
            <a:avLst>
              <a:gd fmla="val 600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836190" y="3770563"/>
            <a:ext cx="17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none" cap="none" strike="noStrike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96–98%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4836190" y="4264339"/>
            <a:ext cx="100500" cy="10050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5000782" y="4209475"/>
            <a:ext cx="16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Reasoning Agent legal confidence on each CCPA ruling</a:t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6886732" y="3660835"/>
            <a:ext cx="2050500" cy="1188600"/>
          </a:xfrm>
          <a:prstGeom prst="roundRect">
            <a:avLst>
              <a:gd fmla="val 600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7023892" y="3770563"/>
            <a:ext cx="177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none" cap="none" strike="noStrike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5 of 13</a:t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7023892" y="4264339"/>
            <a:ext cx="100500" cy="100500"/>
          </a:xfrm>
          <a:prstGeom prst="ellipse">
            <a:avLst/>
          </a:prstGeom>
          <a:solidFill>
            <a:srgbClr val="1880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7188484" y="4209475"/>
            <a:ext cx="16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CCPA dark patterns tested across a 10-checkpoint customer journey</a:t>
            </a:r>
            <a:endParaRPr/>
          </a:p>
        </p:txBody>
      </p:sp>
      <p:pic>
        <p:nvPicPr>
          <p:cNvPr id="303" name="Google Shape;303;p22"/>
          <p:cNvPicPr preferRelativeResize="0"/>
          <p:nvPr/>
        </p:nvPicPr>
        <p:blipFill rotWithShape="1">
          <a:blip r:embed="rId5">
            <a:alphaModFix/>
          </a:blip>
          <a:srcRect b="-3800" l="0" r="0" t="3800"/>
          <a:stretch/>
        </p:blipFill>
        <p:spPr>
          <a:xfrm>
            <a:off x="4942325" y="575150"/>
            <a:ext cx="3994899" cy="296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923" y="2621150"/>
            <a:ext cx="3816576" cy="229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265350" y="663825"/>
            <a:ext cx="89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Future Development Scope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356616" y="1097280"/>
            <a:ext cx="4114800" cy="3639312"/>
          </a:xfrm>
          <a:prstGeom prst="roundRect">
            <a:avLst>
              <a:gd fmla="val 201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521208" y="1188720"/>
            <a:ext cx="37856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Additional details: scope and limits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521208" y="1600200"/>
            <a:ext cx="37857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Tested scope only.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 of 13 patterns on one scripted journey. A 100/100 score means no violations found in that scope.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Decision support.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Verdicts carry a confidence level for human review. Penalty figures are statutory ceilings (up to ₹10 lakh; ₹50 lakh for repeat), not predicted fines.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integrations.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Jira hand-off and the inventory feed use mock data, not live Jira, ServiceNow or warehouse systems.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4672583" y="1097280"/>
            <a:ext cx="4114800" cy="3639312"/>
          </a:xfrm>
          <a:prstGeom prst="roundRect">
            <a:avLst>
              <a:gd fmla="val 201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4837175" y="1188720"/>
            <a:ext cx="37856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Future development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4837175" y="1600200"/>
            <a:ext cx="3785615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716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More patterns.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Interface interference, nagging, trick questions and the rest of the 13 CCPA patterns.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Continuous runs.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Scheduler plus a release-pipeline hook, so every deploy is re-tested.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 integrations.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Jira and ServiceNow ticket sync, and real inventory feeds.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Exploration mode.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Gemini-driven navigation for sites without a scripted journey.</a:t>
            </a:r>
            <a:endParaRPr/>
          </a:p>
          <a:p>
            <a:pPr indent="-137160" lvl="0" marL="13716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•"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Scale and reuse. </a:t>
            </a:r>
            <a:r>
              <a:rPr b="0" i="0" lang="en-GB" sz="115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BigQuery analytics across platforms; other rulebooks (EU Digital Services Act, US click-to-cancel) and sectors such as travel, fintech and subscriptions.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 title="Group 42731997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265350" y="663825"/>
            <a:ext cx="8943000" cy="1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</a:t>
            </a: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https://github.com/rinkle-agarwal/AI-Builder-Hackathon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 26 seconds):</a:t>
            </a: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https://drive.google.com/file/d/1I8Gp-BKTOZwSVJREOPX0J63peJjQ8ac8/view?usp=sharing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 Flex Medium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</a:t>
            </a: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https://trustlens-ai-222160488915.us-central1.run.app/</a:t>
            </a:r>
            <a:endParaRPr b="0" i="0" sz="14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327" name="Google Shape;327;p24"/>
          <p:cNvSpPr txBox="1"/>
          <p:nvPr/>
        </p:nvSpPr>
        <p:spPr>
          <a:xfrm>
            <a:off x="356616" y="2240280"/>
            <a:ext cx="8430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judges can test the demo (no login needed)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356616" y="2606040"/>
            <a:ext cx="2697480" cy="1737360"/>
          </a:xfrm>
          <a:prstGeom prst="roundRect">
            <a:avLst>
              <a:gd fmla="val 421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93776" y="2734056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859536" y="2715768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Open the product link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493776" y="320040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demo has no authentication or login: open the link and the dashboard loads.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3223260" y="2606040"/>
            <a:ext cx="2697480" cy="1737360"/>
          </a:xfrm>
          <a:prstGeom prst="roundRect">
            <a:avLst>
              <a:gd fmla="val 421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3360420" y="2734056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3726180" y="2715768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Choose a storefront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3360420" y="3200400"/>
            <a:ext cx="2423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 the test storefront with dark patterns, then the fixed version. </a:t>
            </a:r>
            <a:r>
              <a:rPr lang="en-GB" sz="11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demo html stores can be selected after the run analysis button. </a:t>
            </a:r>
            <a:r>
              <a:rPr b="0" i="0" lang="en-GB" sz="11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Both test HTML files are in the repo</a:t>
            </a:r>
            <a:r>
              <a:rPr lang="en-GB" sz="11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as well.</a:t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6089904" y="2606040"/>
            <a:ext cx="2697480" cy="1737360"/>
          </a:xfrm>
          <a:prstGeom prst="roundRect">
            <a:avLst>
              <a:gd fmla="val 421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6227064" y="2734056"/>
            <a:ext cx="274320" cy="274320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6592824" y="2715768"/>
            <a:ext cx="2057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Start a run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6227064" y="320040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Watch the five stages, open the findings, compare the two runs and download the output report.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5" title="Frame 14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